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3" r:id="rId5"/>
    <p:sldId id="258" r:id="rId6"/>
    <p:sldId id="259" r:id="rId7"/>
    <p:sldId id="260" r:id="rId8"/>
    <p:sldId id="266" r:id="rId9"/>
    <p:sldId id="261" r:id="rId10"/>
    <p:sldId id="267" r:id="rId11"/>
    <p:sldId id="262" r:id="rId12"/>
    <p:sldId id="268" r:id="rId13"/>
    <p:sldId id="264" r:id="rId14"/>
    <p:sldId id="269" r:id="rId15"/>
    <p:sldId id="265" r:id="rId16"/>
    <p:sldId id="270" r:id="rId17"/>
    <p:sldId id="271" r:id="rId18"/>
    <p:sldId id="272" r:id="rId19"/>
    <p:sldId id="274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904D-6A77-49D5-864E-299FB6E621C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65540-C5A4-4D24-B79F-D9BB47AD468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904D-6A77-49D5-864E-299FB6E621C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65540-C5A4-4D24-B79F-D9BB47AD468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904D-6A77-49D5-864E-299FB6E621C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65540-C5A4-4D24-B79F-D9BB47AD468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904D-6A77-49D5-864E-299FB6E621C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65540-C5A4-4D24-B79F-D9BB47AD468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904D-6A77-49D5-864E-299FB6E621C0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65540-C5A4-4D24-B79F-D9BB47AD468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904D-6A77-49D5-864E-299FB6E621C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65540-C5A4-4D24-B79F-D9BB47AD468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904D-6A77-49D5-864E-299FB6E621C0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65540-C5A4-4D24-B79F-D9BB47AD468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904D-6A77-49D5-864E-299FB6E621C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65540-C5A4-4D24-B79F-D9BB47AD468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904D-6A77-49D5-864E-299FB6E621C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65540-C5A4-4D24-B79F-D9BB47AD468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904D-6A77-49D5-864E-299FB6E621C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65540-C5A4-4D24-B79F-D9BB47AD468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904D-6A77-49D5-864E-299FB6E621C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65540-C5A4-4D24-B79F-D9BB47AD468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7904D-6A77-49D5-864E-299FB6E621C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65540-C5A4-4D24-B79F-D9BB47AD468B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U&amp;M Designs</a:t>
            </a:r>
            <a:br>
              <a:rPr lang="en-US" dirty="0"/>
            </a:br>
            <a:r>
              <a:rPr lang="en-US" dirty="0"/>
              <a:t>Production Planning Software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Vendor : Data Brilliance Business Solutions LLP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729" y="62828"/>
            <a:ext cx="2361671" cy="1442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U&amp;M Production Planning Objectives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Automate the Entire Production Planning Process to make the process Accurate, Fast, Simple and Efficient.</a:t>
            </a:r>
            <a:endParaRPr lang="en-US" dirty="0"/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Resolve the issue of time taken by multiple department managers to work on the planning for each PO.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/>
              <a:t>Integrate the ERP and New Production Planning software so that there is a seamless connect.</a:t>
            </a:r>
            <a:endParaRPr lang="en-US" dirty="0"/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Create an Effective Dash Board visibility for the Leadership to make day to decisions on execution of each customer order.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/>
              <a:t>Create alerts for timely response without getting into crisis points 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450667" cy="99906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World-Class Dashboard Features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067" y="999068"/>
            <a:ext cx="11946466" cy="57404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IN" dirty="0"/>
          </a:p>
          <a:p>
            <a:pPr lvl="0"/>
            <a:r>
              <a:rPr lang="en-IN" b="1" dirty="0"/>
              <a:t>Digital factory map</a:t>
            </a:r>
            <a:r>
              <a:rPr lang="en-IN" dirty="0"/>
              <a:t> showing each production area with live status and WIP counts. </a:t>
            </a:r>
            <a:endParaRPr lang="en-IN" dirty="0"/>
          </a:p>
          <a:p>
            <a:pPr lvl="0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Interactive Gantt chart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 for production schedules, allowing planners to drag-and-drop jobs and immediately see capacity impacts. 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  <a:p>
            <a:pPr lvl="0"/>
            <a:r>
              <a:rPr lang="en-IN" b="1" dirty="0"/>
              <a:t>Heat maps</a:t>
            </a:r>
            <a:r>
              <a:rPr lang="en-IN" dirty="0"/>
              <a:t> highlighting overloaded departments, overdue work orders, and critical inventory shortages. </a:t>
            </a:r>
            <a:endParaRPr lang="en-IN" dirty="0"/>
          </a:p>
          <a:p>
            <a:pPr lvl="0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What-if simulation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 to evaluate scenarios such as adding overtime, changing priorities, or machine downtime before finalizing a plan. 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  <a:p>
            <a:pPr lvl="0"/>
            <a:r>
              <a:rPr lang="en-IN" b="1" dirty="0"/>
              <a:t>AI recommendations</a:t>
            </a:r>
            <a:r>
              <a:rPr lang="en-IN" dirty="0"/>
              <a:t> suggesting the optimal production sequence, predicting shipment risks, and identifying likely bottlenecks before they occur. </a:t>
            </a:r>
            <a:endParaRPr lang="en-IN" dirty="0"/>
          </a:p>
          <a:p>
            <a:pPr lvl="0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Barcode and QR code integration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 so WIP updates automatically as products move through each stage. (Ideal)</a:t>
            </a:r>
            <a:r>
              <a:rPr lang="en-US" altLang="en-IN" dirty="0">
                <a:solidFill>
                  <a:schemeClr val="accent2">
                    <a:lumMod val="75000"/>
                  </a:schemeClr>
                </a:solidFill>
              </a:rPr>
              <a:t> - LED Screen in each department with dash board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  <a:p>
            <a:pPr lvl="0"/>
            <a:r>
              <a:rPr lang="en-IN" b="1" dirty="0"/>
              <a:t>Real-time mobile alerts</a:t>
            </a:r>
            <a:r>
              <a:rPr lang="en-IN" dirty="0"/>
              <a:t> for department heads when critical thresholds are exceeded.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19095"/>
            <a:ext cx="4004733" cy="1133496"/>
          </a:xfrm>
        </p:spPr>
        <p:txBody>
          <a:bodyPr/>
          <a:lstStyle/>
          <a:p>
            <a:r>
              <a:rPr lang="en-US" b="1" dirty="0"/>
              <a:t>Scope of Work</a:t>
            </a:r>
            <a:endParaRPr lang="en-IN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982134"/>
          <a:ext cx="12191999" cy="6222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065"/>
                <a:gridCol w="3812734"/>
                <a:gridCol w="2438400"/>
                <a:gridCol w="2438400"/>
                <a:gridCol w="2438400"/>
              </a:tblGrid>
              <a:tr h="858356">
                <a:tc>
                  <a:txBody>
                    <a:bodyPr/>
                    <a:lstStyle/>
                    <a:p>
                      <a:pPr algn="just"/>
                      <a:r>
                        <a:rPr lang="en-US" sz="2000" u="sng" dirty="0"/>
                        <a:t>S.NO</a:t>
                      </a:r>
                      <a:endParaRPr lang="en-IN" sz="2000" u="sng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/>
                        <a:t>RESOURCE</a:t>
                      </a:r>
                      <a:endParaRPr lang="en-IN" sz="2000" u="sng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/>
                        <a:t>DEPARTMENT</a:t>
                      </a:r>
                      <a:endParaRPr lang="en-IN" sz="2000" u="sng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/>
                        <a:t>INPUT DOCUMENTS</a:t>
                      </a:r>
                      <a:endParaRPr lang="en-IN" sz="2000" u="sng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/>
                        <a:t>SUPPORT TEAM</a:t>
                      </a:r>
                      <a:endParaRPr lang="en-IN" sz="2000" u="sng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890160">
                <a:tc>
                  <a:txBody>
                    <a:bodyPr/>
                    <a:lstStyle/>
                    <a:p>
                      <a:pPr algn="just"/>
                      <a:r>
                        <a:rPr lang="en-US" b="1" dirty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CUSTOMER ORDER EXECUTION PLANNING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CRM ONLY FOR 1</a:t>
                      </a:r>
                      <a:r>
                        <a:rPr lang="en-US" b="1" baseline="30000" dirty="0"/>
                        <a:t>ST</a:t>
                      </a:r>
                      <a:r>
                        <a:rPr lang="en-US" b="1" dirty="0"/>
                        <a:t> ORDER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CUSTOMER PO, </a:t>
                      </a:r>
                      <a:endParaRPr lang="en-US" b="1" dirty="0"/>
                    </a:p>
                    <a:p>
                      <a:r>
                        <a:rPr lang="en-US" b="1" dirty="0"/>
                        <a:t>SALES ORDER, DELIVERY DEADLINE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MERCHANDISING</a:t>
                      </a:r>
                      <a:endParaRPr lang="en-IN" b="1" dirty="0"/>
                    </a:p>
                  </a:txBody>
                  <a:tcPr/>
                </a:tc>
              </a:tr>
              <a:tr h="890160">
                <a:tc>
                  <a:txBody>
                    <a:bodyPr/>
                    <a:lstStyle/>
                    <a:p>
                      <a:pPr algn="just"/>
                      <a:r>
                        <a:rPr lang="en-US" b="1" dirty="0"/>
                        <a:t>2</a:t>
                      </a:r>
                      <a:endParaRPr lang="en-IN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MATERIAL PLANNING</a:t>
                      </a:r>
                      <a:endParaRPr lang="en-IN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PPC/PURCHASE</a:t>
                      </a:r>
                      <a:endParaRPr lang="en-IN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MRP</a:t>
                      </a:r>
                      <a:endParaRPr lang="en-US" b="1" dirty="0"/>
                    </a:p>
                    <a:p>
                      <a:r>
                        <a:rPr lang="en-US" b="1" dirty="0"/>
                        <a:t>BOM</a:t>
                      </a:r>
                      <a:endParaRPr lang="en-US" b="1" dirty="0"/>
                    </a:p>
                    <a:p>
                      <a:r>
                        <a:rPr lang="en-US" b="1" dirty="0"/>
                        <a:t>SALES ORDER AND SP</a:t>
                      </a:r>
                      <a:endParaRPr lang="en-US" b="1" dirty="0"/>
                    </a:p>
                    <a:p>
                      <a:r>
                        <a:rPr lang="en-US" b="1" dirty="0"/>
                        <a:t>SUPPLIER</a:t>
                      </a:r>
                      <a:endParaRPr lang="en-IN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PDE/PRODUCTION/</a:t>
                      </a:r>
                      <a:endParaRPr lang="en-US" b="1" dirty="0"/>
                    </a:p>
                    <a:p>
                      <a:r>
                        <a:rPr lang="en-US" b="1" dirty="0"/>
                        <a:t>STORE</a:t>
                      </a:r>
                      <a:endParaRPr lang="en-IN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890160">
                <a:tc>
                  <a:txBody>
                    <a:bodyPr/>
                    <a:lstStyle/>
                    <a:p>
                      <a:pPr algn="just"/>
                      <a:r>
                        <a:rPr lang="en-US" b="1" dirty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MANPOWER PLANNING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PRODUCTION</a:t>
                      </a:r>
                      <a:endParaRPr lang="en-US" b="1" dirty="0"/>
                    </a:p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DEPLOYMENT CHART</a:t>
                      </a:r>
                      <a:endParaRPr lang="en-US" b="1" dirty="0"/>
                    </a:p>
                    <a:p>
                      <a:r>
                        <a:rPr lang="en-US" b="1" dirty="0"/>
                        <a:t>REGULAR MANHOURS</a:t>
                      </a:r>
                      <a:endParaRPr lang="en-US" b="1" dirty="0"/>
                    </a:p>
                    <a:p>
                      <a:r>
                        <a:rPr lang="en-US" b="1" dirty="0"/>
                        <a:t>OVERTIME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HUMAN RESOURCE</a:t>
                      </a:r>
                      <a:endParaRPr lang="en-IN" b="1" dirty="0"/>
                    </a:p>
                  </a:txBody>
                  <a:tcPr/>
                </a:tc>
              </a:tr>
              <a:tr h="1020449">
                <a:tc>
                  <a:txBody>
                    <a:bodyPr/>
                    <a:lstStyle/>
                    <a:p>
                      <a:pPr algn="just"/>
                      <a:r>
                        <a:rPr lang="en-US" b="1" dirty="0"/>
                        <a:t>4</a:t>
                      </a:r>
                      <a:endParaRPr lang="en-IN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MACHINERY SCHEDULING</a:t>
                      </a:r>
                      <a:endParaRPr lang="en-IN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PLANNING</a:t>
                      </a:r>
                      <a:endParaRPr lang="en-US" b="1" dirty="0"/>
                    </a:p>
                    <a:p>
                      <a:r>
                        <a:rPr lang="en-US" b="1" dirty="0"/>
                        <a:t>PRODUCTION</a:t>
                      </a:r>
                      <a:endParaRPr lang="en-IN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FLOW CHART</a:t>
                      </a:r>
                      <a:endParaRPr lang="en-US" b="1" dirty="0"/>
                    </a:p>
                    <a:p>
                      <a:r>
                        <a:rPr lang="en-US" b="1" dirty="0"/>
                        <a:t>CAPACITY PLAN</a:t>
                      </a:r>
                      <a:endParaRPr lang="en-US" b="1" dirty="0"/>
                    </a:p>
                    <a:p>
                      <a:endParaRPr lang="en-IN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MAINTENANCE</a:t>
                      </a:r>
                      <a:endParaRPr lang="en-IN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1326582">
                <a:tc>
                  <a:txBody>
                    <a:bodyPr/>
                    <a:lstStyle/>
                    <a:p>
                      <a:pPr algn="just"/>
                      <a:r>
                        <a:rPr lang="en-US" b="1" dirty="0"/>
                        <a:t>5</a:t>
                      </a:r>
                      <a:endParaRPr lang="en-IN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MONEY</a:t>
                      </a:r>
                      <a:endParaRPr lang="en-IN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PURCHASE</a:t>
                      </a:r>
                      <a:endParaRPr lang="en-US" b="1" dirty="0"/>
                    </a:p>
                    <a:p>
                      <a:r>
                        <a:rPr lang="en-US" b="1" dirty="0"/>
                        <a:t>ACCOUNTS</a:t>
                      </a:r>
                      <a:endParaRPr lang="en-IN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PAYMENT SCHEDULE</a:t>
                      </a:r>
                      <a:endParaRPr lang="en-US" b="1" dirty="0"/>
                    </a:p>
                    <a:p>
                      <a:r>
                        <a:rPr lang="en-US" b="1" dirty="0"/>
                        <a:t>CASH FLOW PLANNING</a:t>
                      </a:r>
                      <a:endParaRPr lang="en-IN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MD/ACCOUNTS/</a:t>
                      </a:r>
                      <a:endParaRPr lang="en-US" b="1" dirty="0"/>
                    </a:p>
                    <a:p>
                      <a:r>
                        <a:rPr lang="en-US" b="1" dirty="0"/>
                        <a:t>AUDITOR</a:t>
                      </a:r>
                      <a:endParaRPr lang="en-IN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should the MD’s Dash Board Contain?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153179"/>
            <a:ext cx="4580469" cy="33755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600" dirty="0"/>
              <a:t>□ </a:t>
            </a:r>
            <a:r>
              <a:rPr lang="en-IN" sz="3600" dirty="0">
                <a:solidFill>
                  <a:schemeClr val="accent2">
                    <a:lumMod val="75000"/>
                  </a:schemeClr>
                </a:solidFill>
              </a:rPr>
              <a:t>Order Schedule</a:t>
            </a:r>
            <a:endParaRPr lang="en-IN" sz="36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3600" dirty="0"/>
              <a:t>□ WIP Status</a:t>
            </a:r>
            <a:endParaRPr lang="en-IN" sz="3600" dirty="0"/>
          </a:p>
          <a:p>
            <a:pPr marL="0" indent="0">
              <a:buNone/>
            </a:pPr>
            <a:r>
              <a:rPr lang="en-IN" sz="3600" dirty="0"/>
              <a:t>□ </a:t>
            </a:r>
            <a:r>
              <a:rPr lang="en-IN" sz="3600" dirty="0">
                <a:solidFill>
                  <a:schemeClr val="accent2">
                    <a:lumMod val="75000"/>
                  </a:schemeClr>
                </a:solidFill>
              </a:rPr>
              <a:t>Delayed Jobs</a:t>
            </a:r>
            <a:endParaRPr lang="en-IN" sz="36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3600" dirty="0"/>
              <a:t>□ Machine Status</a:t>
            </a:r>
            <a:endParaRPr lang="en-IN" sz="3600" dirty="0"/>
          </a:p>
          <a:p>
            <a:pPr marL="0" indent="0">
              <a:buNone/>
            </a:pPr>
            <a:r>
              <a:rPr lang="en-IN" sz="3600" dirty="0"/>
              <a:t>□ </a:t>
            </a:r>
            <a:r>
              <a:rPr lang="en-IN" sz="3600" dirty="0">
                <a:solidFill>
                  <a:schemeClr val="accent2">
                    <a:lumMod val="75000"/>
                  </a:schemeClr>
                </a:solidFill>
              </a:rPr>
              <a:t>Labour Availability</a:t>
            </a:r>
            <a:endParaRPr lang="en-IN" sz="36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3600" dirty="0"/>
          </a:p>
        </p:txBody>
      </p:sp>
      <p:sp>
        <p:nvSpPr>
          <p:cNvPr id="4" name="Content Placeholder 2"/>
          <p:cNvSpPr txBox="1"/>
          <p:nvPr/>
        </p:nvSpPr>
        <p:spPr>
          <a:xfrm>
            <a:off x="6333067" y="2226733"/>
            <a:ext cx="5477933" cy="31157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3600" dirty="0"/>
              <a:t>□ </a:t>
            </a:r>
            <a:r>
              <a:rPr lang="en-IN" sz="3600" dirty="0">
                <a:solidFill>
                  <a:schemeClr val="accent2">
                    <a:lumMod val="75000"/>
                  </a:schemeClr>
                </a:solidFill>
              </a:rPr>
              <a:t>Material Shortage</a:t>
            </a:r>
            <a:endParaRPr lang="en-IN" sz="36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3600" dirty="0"/>
              <a:t>□ Purchase Status</a:t>
            </a:r>
            <a:endParaRPr lang="en-IN" sz="3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3600" dirty="0"/>
              <a:t>□ </a:t>
            </a:r>
            <a:r>
              <a:rPr lang="en-IN" sz="3600" dirty="0">
                <a:solidFill>
                  <a:schemeClr val="accent2">
                    <a:lumMod val="75000"/>
                  </a:schemeClr>
                </a:solidFill>
              </a:rPr>
              <a:t>Quality Status</a:t>
            </a:r>
            <a:endParaRPr lang="en-IN" sz="36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3600" dirty="0"/>
              <a:t>□ Dispatch Status</a:t>
            </a:r>
            <a:endParaRPr lang="en-IN" sz="3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3600" dirty="0"/>
              <a:t>□ </a:t>
            </a:r>
            <a:r>
              <a:rPr lang="en-IN" sz="3600" dirty="0">
                <a:solidFill>
                  <a:schemeClr val="accent2">
                    <a:lumMod val="75000"/>
                  </a:schemeClr>
                </a:solidFill>
              </a:rPr>
              <a:t>Customer Commitments</a:t>
            </a:r>
            <a:endParaRPr lang="en-IN" sz="36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793"/>
            <a:ext cx="4419600" cy="913342"/>
          </a:xfrm>
        </p:spPr>
        <p:txBody>
          <a:bodyPr/>
          <a:lstStyle/>
          <a:p>
            <a:r>
              <a:rPr lang="en-US" dirty="0"/>
              <a:t>MD’s Dash Board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KPI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Target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Actual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Status</a:t>
                      </a:r>
                      <a:endParaRPr lang="en-IN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Orders Running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🟢</a:t>
                      </a:r>
                      <a:endParaRPr lang="en-IN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OTIF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95%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90%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🔴</a:t>
                      </a:r>
                      <a:endParaRPr lang="en-IN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Daily Production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80 Units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75 Units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🟡</a:t>
                      </a:r>
                      <a:endParaRPr lang="en-IN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WIP Value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Rs.24,50,000/-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Rs.21,50,000/-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🟡</a:t>
                      </a:r>
                      <a:endParaRPr lang="en-IN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Production Efficiency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100%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93.75%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🟡</a:t>
                      </a:r>
                      <a:endParaRPr lang="en-IN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Rejections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2%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1%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🟢</a:t>
                      </a:r>
                      <a:endParaRPr lang="en-IN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Material Shortages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2%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0%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🟢</a:t>
                      </a:r>
                      <a:endParaRPr lang="en-IN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Delayed Orders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1%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0%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🟢</a:t>
                      </a:r>
                      <a:endParaRPr lang="en-IN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Containers Ready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🟢</a:t>
                      </a:r>
                      <a:endParaRPr lang="en-IN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75667" y="1204714"/>
            <a:ext cx="45577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Is the Factory On Track today?</a:t>
            </a: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should MD’s Dashboard Look like?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NAGING DIRECTORS DASH BOARD DRAF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10795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Should Production Overview Look like?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should Production Real time performance view </a:t>
            </a:r>
            <a:r>
              <a:rPr lang="en-US" dirty="0" err="1"/>
              <a:t>looklike</a:t>
            </a:r>
            <a:r>
              <a:rPr lang="en-US" dirty="0"/>
              <a:t>?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33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should Manpower Real time Status look like?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should Material Real time Status </a:t>
            </a:r>
            <a:r>
              <a:rPr lang="en-US" dirty="0" err="1"/>
              <a:t>looklike</a:t>
            </a:r>
            <a:r>
              <a:rPr lang="en-US" dirty="0"/>
              <a:t>?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should Quality Real time Status look like?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Immediate Followups for PPC Software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635" y="1825625"/>
            <a:ext cx="12064365" cy="4752975"/>
          </a:xfrm>
        </p:spPr>
        <p:txBody>
          <a:bodyPr>
            <a:normAutofit fontScale="80000"/>
          </a:bodyPr>
          <a:p>
            <a:pPr marL="514350" indent="-514350">
              <a:buAutoNum type="arabicPeriod"/>
            </a:pPr>
            <a:r>
              <a:rPr lang="en-US"/>
              <a:t>Merchandiser : </a:t>
            </a:r>
            <a:endParaRPr lang="en-US"/>
          </a:p>
          <a:p>
            <a:pPr marL="457200" lvl="1" indent="0">
              <a:buNone/>
            </a:pPr>
            <a:r>
              <a:rPr lang="en-US"/>
              <a:t>Logic for Date commitment for a Customer order.</a:t>
            </a:r>
            <a:endParaRPr lang="en-US"/>
          </a:p>
          <a:p>
            <a:pPr marL="457200" lvl="1" indent="0">
              <a:buNone/>
            </a:pPr>
            <a:r>
              <a:rPr lang="en-US"/>
              <a:t>D minus Article wise (As every article takes different production time)</a:t>
            </a:r>
            <a:endParaRPr lang="en-US"/>
          </a:p>
          <a:p>
            <a:pPr marL="514350" lvl="0" indent="-514350">
              <a:buAutoNum type="arabicPeriod"/>
            </a:pPr>
            <a:r>
              <a:rPr lang="en-US">
                <a:solidFill>
                  <a:schemeClr val="tx1"/>
                </a:solidFill>
              </a:rPr>
              <a:t>PPC:</a:t>
            </a:r>
            <a:endParaRPr 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>
                <a:solidFill>
                  <a:schemeClr val="tx1"/>
                </a:solidFill>
              </a:rPr>
              <a:t>Material ordering date to the supplier</a:t>
            </a:r>
            <a:endParaRPr 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>
                <a:solidFill>
                  <a:schemeClr val="tx1"/>
                </a:solidFill>
              </a:rPr>
              <a:t>D minus Articlewise (Raw material, Fabric and Metal)</a:t>
            </a:r>
            <a:endParaRPr lang="en-US">
              <a:solidFill>
                <a:schemeClr val="tx1"/>
              </a:solidFill>
            </a:endParaRPr>
          </a:p>
          <a:p>
            <a:pPr marL="514350" lvl="0" indent="-514350">
              <a:buAutoNum type="arabicPeriod"/>
            </a:pPr>
            <a:r>
              <a:rPr lang="en-US">
                <a:solidFill>
                  <a:schemeClr val="tx1"/>
                </a:solidFill>
              </a:rPr>
              <a:t>Purchase:</a:t>
            </a:r>
            <a:endParaRPr 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>
                <a:solidFill>
                  <a:schemeClr val="tx1"/>
                </a:solidFill>
              </a:rPr>
              <a:t>Material timelines Articlewise from each supplier</a:t>
            </a:r>
            <a:endParaRPr lang="en-US">
              <a:solidFill>
                <a:schemeClr val="tx1"/>
              </a:solidFill>
            </a:endParaRPr>
          </a:p>
          <a:p>
            <a:pPr marL="514350" lvl="0" indent="-514350">
              <a:buAutoNum type="arabicPeriod"/>
            </a:pPr>
            <a:r>
              <a:rPr lang="en-US">
                <a:solidFill>
                  <a:schemeClr val="tx1"/>
                </a:solidFill>
              </a:rPr>
              <a:t>Production:</a:t>
            </a:r>
            <a:endParaRPr 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>
                <a:solidFill>
                  <a:schemeClr val="tx1"/>
                </a:solidFill>
              </a:rPr>
              <a:t>Article wise production capacity per day with average manpower numbers</a:t>
            </a:r>
            <a:endParaRPr 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>
                <a:solidFill>
                  <a:schemeClr val="tx1"/>
                </a:solidFill>
              </a:rPr>
              <a:t>Daily production update on google sheet</a:t>
            </a:r>
            <a:endParaRPr lang="en-US">
              <a:solidFill>
                <a:schemeClr val="tx1"/>
              </a:solidFill>
            </a:endParaRPr>
          </a:p>
          <a:p>
            <a:pPr marL="514350" lvl="0" indent="-514350">
              <a:buAutoNum type="arabicPeriod"/>
            </a:pPr>
            <a:r>
              <a:rPr lang="en-US">
                <a:solidFill>
                  <a:schemeClr val="tx1"/>
                </a:solidFill>
              </a:rPr>
              <a:t>HR: </a:t>
            </a:r>
            <a:endParaRPr 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>
                <a:solidFill>
                  <a:schemeClr val="tx1"/>
                </a:solidFill>
              </a:rPr>
              <a:t>Google sheet update of manpower and overtime</a:t>
            </a:r>
            <a:endParaRPr lang="en-US">
              <a:solidFill>
                <a:schemeClr val="tx1"/>
              </a:solidFill>
            </a:endParaRPr>
          </a:p>
          <a:p>
            <a:pPr marL="514350" lvl="0" indent="-514350">
              <a:buAutoNum type="arabicPeriod"/>
            </a:pPr>
            <a:endParaRPr lang="en-US" sz="170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sz="17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3214</Words>
  <Application>WPS Presentation</Application>
  <PresentationFormat>Widescreen</PresentationFormat>
  <Paragraphs>230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U&amp;M Designs Production Planning Software</vt:lpstr>
      <vt:lpstr>U&amp;M Production Planning Objectives</vt:lpstr>
      <vt:lpstr>World-Class Dashboard Features </vt:lpstr>
      <vt:lpstr>Scope of Work</vt:lpstr>
      <vt:lpstr>What should the MD’s Dash Board Contain?</vt:lpstr>
      <vt:lpstr>MD’s Dash Board</vt:lpstr>
      <vt:lpstr>What should MD’s Dashboard Look like?</vt:lpstr>
      <vt:lpstr>PowerPoint 演示文稿</vt:lpstr>
      <vt:lpstr>What Should Production Overview Look like?</vt:lpstr>
      <vt:lpstr>PowerPoint 演示文稿</vt:lpstr>
      <vt:lpstr>What should Production Real time performance view looklike?</vt:lpstr>
      <vt:lpstr>PowerPoint 演示文稿</vt:lpstr>
      <vt:lpstr>What should Manpower Real time Status look like?</vt:lpstr>
      <vt:lpstr>PowerPoint 演示文稿</vt:lpstr>
      <vt:lpstr>What should Material Real time Status looklike?</vt:lpstr>
      <vt:lpstr>PowerPoint 演示文稿</vt:lpstr>
      <vt:lpstr>What should Quality Real time Status look like?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Bharat Ramani</dc:creator>
  <cp:lastModifiedBy>sribharat</cp:lastModifiedBy>
  <cp:revision>4</cp:revision>
  <dcterms:created xsi:type="dcterms:W3CDTF">2026-08-08T10:43:00Z</dcterms:created>
  <dcterms:modified xsi:type="dcterms:W3CDTF">2026-08-09T10:19:48Z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751B63E9C034484EA95416BD0FBB6BA6_12</vt:lpwstr>
  </property>
</Properties>
</file>